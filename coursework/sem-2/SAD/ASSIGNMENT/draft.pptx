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SYAHMI FARIS BIN RUSLI" userId="e6c36357-e51a-4e23-ae8f-a615cd7c87a6" providerId="ADAL" clId="{DF764E48-6916-40F5-A642-06D638447586}"/>
    <pc:docChg chg="modSld">
      <pc:chgData name="MUHAMMAD SYAHMI FARIS BIN RUSLI" userId="e6c36357-e51a-4e23-ae8f-a615cd7c87a6" providerId="ADAL" clId="{DF764E48-6916-40F5-A642-06D638447586}" dt="2024-03-20T14:29:23.871" v="17" actId="20577"/>
      <pc:docMkLst>
        <pc:docMk/>
      </pc:docMkLst>
      <pc:sldChg chg="addSp modSp mod">
        <pc:chgData name="MUHAMMAD SYAHMI FARIS BIN RUSLI" userId="e6c36357-e51a-4e23-ae8f-a615cd7c87a6" providerId="ADAL" clId="{DF764E48-6916-40F5-A642-06D638447586}" dt="2024-03-20T14:29:23.871" v="17" actId="20577"/>
        <pc:sldMkLst>
          <pc:docMk/>
          <pc:sldMk cId="1031131647" sldId="256"/>
        </pc:sldMkLst>
        <pc:spChg chg="add mod">
          <ac:chgData name="MUHAMMAD SYAHMI FARIS BIN RUSLI" userId="e6c36357-e51a-4e23-ae8f-a615cd7c87a6" providerId="ADAL" clId="{DF764E48-6916-40F5-A642-06D638447586}" dt="2024-03-20T14:25:25.981" v="2" actId="1076"/>
          <ac:spMkLst>
            <pc:docMk/>
            <pc:sldMk cId="1031131647" sldId="256"/>
            <ac:spMk id="3" creationId="{D30063E3-3B27-B00E-4EED-B697C50390D7}"/>
          </ac:spMkLst>
        </pc:spChg>
        <pc:spChg chg="mod">
          <ac:chgData name="MUHAMMAD SYAHMI FARIS BIN RUSLI" userId="e6c36357-e51a-4e23-ae8f-a615cd7c87a6" providerId="ADAL" clId="{DF764E48-6916-40F5-A642-06D638447586}" dt="2024-03-20T14:29:23.871" v="17" actId="20577"/>
          <ac:spMkLst>
            <pc:docMk/>
            <pc:sldMk cId="1031131647" sldId="256"/>
            <ac:spMk id="32" creationId="{D73A6991-230A-78D6-E7D0-41E08BA1684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835D-476D-DC00-82CF-BEF2E5DD1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46083-8B8E-447E-CE3C-105724838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D204A-8CC7-B1C2-BD49-C9BB820D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FA6C-72B6-F79E-45EC-8E7E372A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4133B-EB7E-3A50-C25D-47D9041E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361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6631-2E4D-F670-75C0-33C67EFE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05791-20DF-1E84-D49D-0054C98B0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1FD8F-AB4C-B290-DEA8-2E7A50C80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C9EA-63EA-0310-3360-1A94A5FD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885F5-9B52-6FBE-8F50-D9D5BF8C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3828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CB17-3CBE-1D18-3866-2BD98C918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0A468-98A9-6D2F-CAF7-A25D725FA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C3F98-6F3E-CF19-6028-DA28D10B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312E6-51F9-33A0-A7B0-04F33846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4237D-F18D-31D1-6731-4F9DE145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4474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5252-C2C8-6305-B33E-117DCCBE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D56C0-5CA9-8F40-78C3-8EA86862F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F0396-01AE-6773-A84B-8749587C4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B4363-68EE-EFD0-C5D4-73E9F0D1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EA7A9-901D-4391-170E-82C3C98C1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8A418-E54A-E003-F8E1-2B82013A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3217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E65A-7FD2-08DD-0357-8105F598E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223C8-9311-7E64-9240-3D5A37F45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C02E0-6D03-61C6-9610-0ACB350E0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B0B26-AA41-E3B5-CBE0-A3DE2C0C3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8E2CE4-3E91-A1FC-8FD5-8911659F0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B6EFC3-6400-A1EB-0A1F-C091CEED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6161F-C969-F8ED-BDAF-5B98FEBE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45214-9EDE-D638-CFA9-DF1F7970F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749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63CF-6F1C-1EBA-5BA1-91C37E6D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00800-022D-1534-4BA3-A4DAEB685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BFF78-BE99-2E85-2327-6083482D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BA888-1E23-614C-E69C-D85B576C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5409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0ADD9-A682-4AEB-30FC-8E7FBF77A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9FB14-4EC9-ACDC-4C7E-09A3B17E3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46AB3-0160-9143-D953-57DCE07A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601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C48B-C578-6240-93EE-56FB798F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14DF7-99D0-8E9A-3631-68717C24D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FEE82-9995-EADD-33C8-FB5212B7A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0362F-BDA7-74CB-E056-ABAFFDA3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A139C-FF42-7711-2EA0-37CA8D8B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F6C8C-F137-C07D-0B1A-1EEE517A2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4240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39B7-7440-A319-9FB2-5EC4C00C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05E0D-07D4-779A-04AE-F20781F4F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03953-A015-ADF0-F2C9-83A657320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43CE2-E606-F183-5E3E-24FD5CE7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A463E-FDF7-BDC4-2489-6691734C8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765AB-1435-5B02-FA7B-5793B9525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1776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7F67F-823B-31F7-7C29-F197D73B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917A3-9CB7-27B9-FD3E-A94ED1603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A3227-E47E-1633-497B-EB4C81BB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D1273-89A8-23AF-16E9-A38A4FAC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AE53-408B-CD54-D036-49726258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7014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03AB30-4500-DB54-CEC6-FBC795B38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47FC8-4957-4A0C-7BC3-796DCC981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59B14-A6EE-0F78-A8D2-8ED0FA355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EC6B2-2E7B-A52B-BA34-6EBDAC05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984D7-5226-5AE9-0252-554487FC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1986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B64CE-E1CC-3C2A-643B-5B88178E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6143A-3975-CC38-F4A4-B6DE4A04C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07020-EF67-C1E7-B570-B1964EE86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4B2A9-CB7B-41D2-810A-2B6D7B33A628}" type="datetimeFigureOut">
              <a:rPr lang="en-MY" smtClean="0"/>
              <a:t>20/3/2024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6C8DA-46E6-0E20-92FC-A65C172FF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A00C2-741C-95B9-2E9C-F1C4ACF42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C28FE-7A06-47AB-8B67-66A852C3CE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471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8D9481D-0A53-FCE3-6C52-7F7091697EEF}"/>
              </a:ext>
            </a:extLst>
          </p:cNvPr>
          <p:cNvSpPr/>
          <p:nvPr/>
        </p:nvSpPr>
        <p:spPr>
          <a:xfrm>
            <a:off x="675060" y="2822979"/>
            <a:ext cx="1957676" cy="5216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47128F29-8F82-3051-0012-9E34ADB8BDBC}"/>
              </a:ext>
            </a:extLst>
          </p:cNvPr>
          <p:cNvSpPr/>
          <p:nvPr/>
        </p:nvSpPr>
        <p:spPr>
          <a:xfrm>
            <a:off x="1567980" y="2822979"/>
            <a:ext cx="1402285" cy="521638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1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Improve</a:t>
            </a:r>
          </a:p>
          <a:p>
            <a:pPr algn="ctr"/>
            <a:r>
              <a:rPr lang="en-MY" sz="11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Communication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432B16-8F72-6FBB-2191-D4110D0E06F4}"/>
              </a:ext>
            </a:extLst>
          </p:cNvPr>
          <p:cNvSpPr/>
          <p:nvPr/>
        </p:nvSpPr>
        <p:spPr>
          <a:xfrm>
            <a:off x="276161" y="257259"/>
            <a:ext cx="3491903" cy="841735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MY" sz="12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MY" sz="12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MY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59F6C-7866-5410-909C-FA1CACB7BC09}"/>
              </a:ext>
            </a:extLst>
          </p:cNvPr>
          <p:cNvSpPr txBox="1"/>
          <p:nvPr/>
        </p:nvSpPr>
        <p:spPr>
          <a:xfrm>
            <a:off x="276161" y="354960"/>
            <a:ext cx="3688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chemeClr val="accent6"/>
                </a:solidFill>
                <a:latin typeface="Britannic Bold" panose="020B0903060703020204" pitchFamily="34" charset="0"/>
              </a:rPr>
              <a:t>As a productivity tools for system analyst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chemeClr val="accent6"/>
                </a:solidFill>
                <a:latin typeface="Britannic Bold" panose="020B0903060703020204" pitchFamily="34" charset="0"/>
              </a:rPr>
              <a:t>To enhance their regular activities by using automated support</a:t>
            </a:r>
          </a:p>
        </p:txBody>
      </p:sp>
      <p:sp>
        <p:nvSpPr>
          <p:cNvPr id="15" name="Callout: Double Bent Line with Border and Accent Bar 14">
            <a:extLst>
              <a:ext uri="{FF2B5EF4-FFF2-40B4-BE49-F238E27FC236}">
                <a16:creationId xmlns:a16="http://schemas.microsoft.com/office/drawing/2014/main" id="{FC3817FB-6428-F7B7-2B4E-59CD5AB29E52}"/>
              </a:ext>
            </a:extLst>
          </p:cNvPr>
          <p:cNvSpPr/>
          <p:nvPr/>
        </p:nvSpPr>
        <p:spPr>
          <a:xfrm>
            <a:off x="675060" y="2222531"/>
            <a:ext cx="877578" cy="368215"/>
          </a:xfrm>
          <a:prstGeom prst="accentBorderCallout3">
            <a:avLst>
              <a:gd name="adj1" fmla="val 49519"/>
              <a:gd name="adj2" fmla="val -8950"/>
              <a:gd name="adj3" fmla="val 50618"/>
              <a:gd name="adj4" fmla="val -33334"/>
              <a:gd name="adj5" fmla="val 239798"/>
              <a:gd name="adj6" fmla="val -34033"/>
              <a:gd name="adj7" fmla="val 239574"/>
              <a:gd name="adj8" fmla="val -171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Britannic Bold" panose="020B0903060703020204" pitchFamily="34" charset="0"/>
              </a:rPr>
              <a:t>REASONS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71D9E622-E98B-6584-79A0-6CA036A23A10}"/>
              </a:ext>
            </a:extLst>
          </p:cNvPr>
          <p:cNvSpPr/>
          <p:nvPr/>
        </p:nvSpPr>
        <p:spPr>
          <a:xfrm>
            <a:off x="675060" y="2822979"/>
            <a:ext cx="1104644" cy="521638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1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Increasing productivity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D9D0E842-A052-A93D-75E6-7C3A3A3C3052}"/>
              </a:ext>
            </a:extLst>
          </p:cNvPr>
          <p:cNvSpPr/>
          <p:nvPr/>
        </p:nvSpPr>
        <p:spPr>
          <a:xfrm>
            <a:off x="1552638" y="3429000"/>
            <a:ext cx="1402285" cy="521638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5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Accurately Assessing Maintenance Changer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643776B3-DC5B-5D0A-1D14-F86F4F1820F6}"/>
              </a:ext>
            </a:extLst>
          </p:cNvPr>
          <p:cNvSpPr/>
          <p:nvPr/>
        </p:nvSpPr>
        <p:spPr>
          <a:xfrm>
            <a:off x="675060" y="3429000"/>
            <a:ext cx="1104644" cy="521638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1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Integrating Life Cycle Activities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4510A42E-F423-25AA-CDD4-374120472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174" y="1799427"/>
            <a:ext cx="235050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combining all the tasks and stages related to a project or product's life cycle to ensure smooth progression and coordination."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5EC9A667-8568-C63B-515D-20FBAED78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657600" cy="0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Inter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C695122B-9A09-A30B-B18F-40080FAD7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27" y="4297779"/>
            <a:ext cx="14022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combining activities related to the life cycle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AC5D1C-F488-A09D-C9A7-13E502FE1838}"/>
              </a:ext>
            </a:extLst>
          </p:cNvPr>
          <p:cNvSpPr txBox="1"/>
          <p:nvPr/>
        </p:nvSpPr>
        <p:spPr>
          <a:xfrm>
            <a:off x="1613944" y="4233907"/>
            <a:ext cx="23505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effectLst/>
                <a:latin typeface="+mj-lt"/>
              </a:rPr>
              <a:t>correctly figuring out what needs to be fixed or updated in something to keep it working well. It's about making sure you understand exactly what changes are needed for maintenance.</a:t>
            </a:r>
            <a:endParaRPr lang="en-MY" sz="1200" b="1" dirty="0">
              <a:latin typeface="+mj-l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53E95C7-82D1-0AB9-697B-35E76EF6C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878" y="1441450"/>
            <a:ext cx="2256525" cy="229859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F1D76F6-DA58-13FD-DA21-36E242FBB771}"/>
              </a:ext>
            </a:extLst>
          </p:cNvPr>
          <p:cNvSpPr/>
          <p:nvPr/>
        </p:nvSpPr>
        <p:spPr>
          <a:xfrm>
            <a:off x="5634878" y="1441450"/>
            <a:ext cx="1741691" cy="1149296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2DF327-207D-169E-FCD5-E77A4E893C8E}"/>
              </a:ext>
            </a:extLst>
          </p:cNvPr>
          <p:cNvSpPr/>
          <p:nvPr/>
        </p:nvSpPr>
        <p:spPr>
          <a:xfrm>
            <a:off x="5634878" y="2590745"/>
            <a:ext cx="1741691" cy="1149296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F06464-50AC-A954-DB48-D0AF56FB785F}"/>
              </a:ext>
            </a:extLst>
          </p:cNvPr>
          <p:cNvSpPr/>
          <p:nvPr/>
        </p:nvSpPr>
        <p:spPr>
          <a:xfrm>
            <a:off x="8404951" y="3960028"/>
            <a:ext cx="2680114" cy="1149296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rgbClr val="7030A0"/>
                </a:solidFill>
              </a:rPr>
              <a:t>Create &amp; modify the system design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7030A0"/>
                </a:solidFill>
                <a:effectLst/>
                <a:latin typeface="Söhne"/>
              </a:rPr>
              <a:t>Modeling organizational requirements and defining system boundaries</a:t>
            </a:r>
            <a:endParaRPr lang="en-MY" sz="1200" dirty="0">
              <a:solidFill>
                <a:srgbClr val="7030A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rgbClr val="7030A0"/>
                </a:solidFill>
              </a:rPr>
              <a:t>Support prototyping of screen and report designs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3A6991-230A-78D6-E7D0-41E08BA1684E}"/>
              </a:ext>
            </a:extLst>
          </p:cNvPr>
          <p:cNvSpPr/>
          <p:nvPr/>
        </p:nvSpPr>
        <p:spPr>
          <a:xfrm>
            <a:off x="8404951" y="5109324"/>
            <a:ext cx="2680114" cy="1149296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MY" sz="1200" dirty="0">
              <a:solidFill>
                <a:schemeClr val="accent2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chemeClr val="accent2">
                    <a:lumMod val="75000"/>
                  </a:schemeClr>
                </a:solidFill>
              </a:rPr>
              <a:t>Lower CASE tools Generate computer source code from the CASE design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>
                <a:solidFill>
                  <a:schemeClr val="accent2">
                    <a:lumMod val="75000"/>
                  </a:schemeClr>
                </a:solidFill>
              </a:rPr>
              <a:t>Generated in several languages (Source Code)</a:t>
            </a:r>
          </a:p>
          <a:p>
            <a:r>
              <a:rPr lang="en-MY" sz="1200" dirty="0">
                <a:solidFill>
                  <a:schemeClr val="accent2">
                    <a:lumMod val="75000"/>
                  </a:schemeClr>
                </a:solidFill>
              </a:rPr>
              <a:t>     -</a:t>
            </a:r>
            <a:r>
              <a:rPr lang="en-MY" sz="1200" b="0" i="0" dirty="0">
                <a:solidFill>
                  <a:schemeClr val="accent2">
                    <a:lumMod val="75000"/>
                  </a:schemeClr>
                </a:solidFill>
                <a:effectLst/>
                <a:latin typeface="Söhne"/>
              </a:rPr>
              <a:t>PHP      -TypeScript</a:t>
            </a:r>
          </a:p>
          <a:p>
            <a:pPr algn="l"/>
            <a:r>
              <a:rPr lang="en-MY" sz="1200" b="0" i="0" dirty="0">
                <a:solidFill>
                  <a:schemeClr val="accent2">
                    <a:lumMod val="75000"/>
                  </a:schemeClr>
                </a:solidFill>
                <a:effectLst/>
                <a:latin typeface="Söhne"/>
              </a:rPr>
              <a:t>     -Ruby    -Swift      -Kotlin</a:t>
            </a:r>
          </a:p>
          <a:p>
            <a:endParaRPr lang="en-MY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255C7764-714E-6B14-770E-10386AC3F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878" y="4128755"/>
            <a:ext cx="2603074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a clear picture of what a company needs and where the limits of a system lie."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9F8822F4-C4B4-9471-EC22-25763914D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3657600" cy="0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Inter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2B0A38-2E41-D825-A58A-8999BD10483A}"/>
              </a:ext>
            </a:extLst>
          </p:cNvPr>
          <p:cNvSpPr txBox="1"/>
          <p:nvPr/>
        </p:nvSpPr>
        <p:spPr>
          <a:xfrm>
            <a:off x="5357463" y="4860831"/>
            <a:ext cx="3047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Söhne"/>
              </a:rPr>
              <a:t>Help create sample screen and report designs.</a:t>
            </a:r>
            <a:endParaRPr lang="en-MY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24A25B-09AD-2EE3-B499-D68BA536EF61}"/>
              </a:ext>
            </a:extLst>
          </p:cNvPr>
          <p:cNvSpPr txBox="1"/>
          <p:nvPr/>
        </p:nvSpPr>
        <p:spPr>
          <a:xfrm>
            <a:off x="3413436" y="1489338"/>
            <a:ext cx="2221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Analyst and designers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3108BF-EE7F-F1DC-79C1-5F8C2A658779}"/>
              </a:ext>
            </a:extLst>
          </p:cNvPr>
          <p:cNvSpPr txBox="1"/>
          <p:nvPr/>
        </p:nvSpPr>
        <p:spPr>
          <a:xfrm>
            <a:off x="4056936" y="2987000"/>
            <a:ext cx="1449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programmers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1E07C8-25BB-E36C-000B-89CA4C87C58B}"/>
              </a:ext>
            </a:extLst>
          </p:cNvPr>
          <p:cNvSpPr txBox="1"/>
          <p:nvPr/>
        </p:nvSpPr>
        <p:spPr>
          <a:xfrm>
            <a:off x="5655887" y="135203"/>
            <a:ext cx="447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0" i="0" dirty="0">
                <a:effectLst/>
                <a:latin typeface="Söhne"/>
              </a:rPr>
              <a:t>Computer-Aided Software Engineering (CASE)</a:t>
            </a:r>
            <a:endParaRPr lang="en-M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063E3-3B27-B00E-4EED-B697C50390D7}"/>
              </a:ext>
            </a:extLst>
          </p:cNvPr>
          <p:cNvSpPr txBox="1"/>
          <p:nvPr/>
        </p:nvSpPr>
        <p:spPr>
          <a:xfrm>
            <a:off x="5067556" y="475724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öhne"/>
              </a:rPr>
              <a:t>set of software applications designed to help developers create, maintain, and manage software more efficiently.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31131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196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Adobe Devanagari</vt:lpstr>
      <vt:lpstr>Arial</vt:lpstr>
      <vt:lpstr>Britannic Bold</vt:lpstr>
      <vt:lpstr>Calibri</vt:lpstr>
      <vt:lpstr>Calibri Light</vt:lpstr>
      <vt:lpstr>Inter</vt:lpstr>
      <vt:lpstr>Söhne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SYAHMI FARIS BIN RUSLI</dc:creator>
  <cp:lastModifiedBy>MUHAMMAD SYAHMI FARIS BIN RUSLI</cp:lastModifiedBy>
  <cp:revision>1</cp:revision>
  <dcterms:created xsi:type="dcterms:W3CDTF">2024-03-20T12:21:08Z</dcterms:created>
  <dcterms:modified xsi:type="dcterms:W3CDTF">2024-03-20T14:31:39Z</dcterms:modified>
</cp:coreProperties>
</file>